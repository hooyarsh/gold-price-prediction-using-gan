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28"/>
  </p:normalViewPr>
  <p:slideViewPr>
    <p:cSldViewPr snapToGrid="0" snapToObjects="1">
      <p:cViewPr>
        <p:scale>
          <a:sx n="113" d="100"/>
          <a:sy n="113" d="100"/>
        </p:scale>
        <p:origin x="5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9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65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93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08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42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210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79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06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9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3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5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15500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E95D-F843-CD48-B725-665F95F56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754" y="3429000"/>
            <a:ext cx="7758826" cy="2268559"/>
          </a:xfrm>
        </p:spPr>
        <p:txBody>
          <a:bodyPr>
            <a:normAutofit/>
          </a:bodyPr>
          <a:lstStyle/>
          <a:p>
            <a:pPr algn="l"/>
            <a:r>
              <a:rPr lang="en-US"/>
              <a:t>Gold Price Prediction using GAN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9A4D2-87DD-5544-8986-F7B196FB380A}"/>
              </a:ext>
            </a:extLst>
          </p:cNvPr>
          <p:cNvSpPr txBox="1"/>
          <p:nvPr/>
        </p:nvSpPr>
        <p:spPr>
          <a:xfrm>
            <a:off x="1206754" y="5512893"/>
            <a:ext cx="7661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Leveraging Generative Adversarial Networks for Probabilistic Forecasting</a:t>
            </a:r>
          </a:p>
        </p:txBody>
      </p:sp>
    </p:spTree>
    <p:extLst>
      <p:ext uri="{BB962C8B-B14F-4D97-AF65-F5344CB8AC3E}">
        <p14:creationId xmlns:p14="http://schemas.microsoft.com/office/powerpoint/2010/main" val="288586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740D-887D-2745-A810-0B475085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Introduction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B963-389C-2844-85A4-CA046CCE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Forecasting gold prices using Generative Adversarial Networks (GANs) combines advanced machine learning techniques with the need for accurate financial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5570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5EC4-FD39-DD4E-802C-DB9F8C815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ECEE-BE28-0D4A-BE24-923B2BB54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project's goal is to forecast gold prices using GANs. These models are adept at capturing complex patterns in financial time series and providing probabilistic forecasts, enhancing accuracy in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54304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5A88-050F-F64F-BCD8-BBC2A291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Motivation and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F3663-7EDA-9F45-83AF-7F18E0953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521" y="1594916"/>
            <a:ext cx="5177221" cy="3997828"/>
          </a:xfrm>
        </p:spPr>
        <p:txBody>
          <a:bodyPr/>
          <a:lstStyle/>
          <a:p>
            <a:r>
              <a:rPr lang="en-US"/>
              <a:t>Gold serves as a critical financial asset, utilized as a hedge against inflation and currency fluctuations. Accurate predictions benefit investors and policymakers in making informed decisions in volatile markets.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5D874B-ACB8-D544-B3E6-F5363A2E1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867" y="1885285"/>
            <a:ext cx="4005146" cy="398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35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84845-947F-0A4C-B035-7FF773AC6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Why GANs for Time Series Prediction?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70ED7-082E-3C40-AC4F-4E01ADE50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672" y="1796658"/>
            <a:ext cx="5322187" cy="3374924"/>
          </a:xfrm>
        </p:spPr>
        <p:txBody>
          <a:bodyPr/>
          <a:lstStyle/>
          <a:p>
            <a:r>
              <a:rPr lang="en-US"/>
              <a:t>Traditional models like ARIMA and GARCH face limitations due to rigid assumptions and lack of uncertainty estimates. GANs, in contrast, generate full probability distributions, accommodating non-linear dependencies in time series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152B5-89E3-384E-837F-3BD3580DB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822" y="1796658"/>
            <a:ext cx="4584700" cy="346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7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3B46-E372-6441-85B9-81CCFC63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are GANs?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02116-A56C-0E4D-A164-47F4B481D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160" y="1605777"/>
            <a:ext cx="3792456" cy="3908910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Generative Adversarial Networks (GANs), introduced by Goodfellow et al. in 2014, comprise two neural networks: a generator that produces synthetic data and a discriminator that evaluates its authenticity against real data.</a:t>
            </a:r>
          </a:p>
          <a:p>
            <a:endParaRPr lang="en-US"/>
          </a:p>
          <a:p>
            <a:r>
              <a:rPr lang="en-US"/>
              <a:t>GANs operate through adversarial training, creating a zero-sum game between the generator and discriminator. This dynamic encourages the generator to refine its outputs based on the discriminator's feedback, facilitating continuous improvement.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7762E-7109-FC4A-B258-F0476B8C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616" y="1700420"/>
            <a:ext cx="6503174" cy="38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49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89B8-616E-434A-8606-37C662FCD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834" y="2351771"/>
            <a:ext cx="7958331" cy="1077229"/>
          </a:xfrm>
        </p:spPr>
        <p:txBody>
          <a:bodyPr/>
          <a:lstStyle/>
          <a:p>
            <a:pPr algn="ctr"/>
            <a:r>
              <a:rPr lang="en-US"/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395036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111F-8563-754A-9F7F-30DA0B2D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/>
              <a:t>E</a:t>
            </a:r>
            <a:r>
              <a:rPr lang="en-US" sz="2400" b="1"/>
              <a:t>nhancing Stock Return Prediction in the Chinese Market: A GAN-Based Approach (Wu et al., 2025</a:t>
            </a:r>
            <a:br>
              <a:rPr lang="en-US" sz="2400"/>
            </a:b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CB807-7F15-F443-A0D2-97A12CA50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/>
              <a:t>Key Ideas:</a:t>
            </a:r>
            <a:endParaRPr lang="en-US"/>
          </a:p>
          <a:p>
            <a:r>
              <a:rPr lang="en-US"/>
              <a:t>• Proposes a </a:t>
            </a:r>
            <a:r>
              <a:rPr lang="en-US" b="1"/>
              <a:t>GAN-based model</a:t>
            </a:r>
            <a:r>
              <a:rPr lang="en-US"/>
              <a:t> for predicting stock returns in China’s A-share market.</a:t>
            </a:r>
          </a:p>
          <a:p>
            <a:r>
              <a:rPr lang="en-US"/>
              <a:t>• Integrates </a:t>
            </a:r>
            <a:r>
              <a:rPr lang="en-US" b="1"/>
              <a:t>LSTM, attention mechanisms, and CNN</a:t>
            </a:r>
            <a:r>
              <a:rPr lang="en-US"/>
              <a:t> to handle time dependencies and the low signal-to-noise ratio in financial data.</a:t>
            </a:r>
          </a:p>
          <a:p>
            <a:r>
              <a:rPr lang="en-US"/>
              <a:t>• The model </a:t>
            </a:r>
            <a:r>
              <a:rPr lang="en-US" b="1"/>
              <a:t>outperforms traditional approaches</a:t>
            </a:r>
            <a:r>
              <a:rPr lang="en-US"/>
              <a:t> (ARIMA, LSTM) in predictive accuracy and generalization.</a:t>
            </a:r>
          </a:p>
          <a:p>
            <a:r>
              <a:rPr lang="en-US"/>
              <a:t>• Incorporates </a:t>
            </a:r>
            <a:r>
              <a:rPr lang="en-US" b="1"/>
              <a:t>macroeconomic predictors</a:t>
            </a:r>
            <a:r>
              <a:rPr lang="en-US"/>
              <a:t> to improve stability and robustness.</a:t>
            </a:r>
          </a:p>
          <a:p>
            <a:r>
              <a:rPr lang="en-US"/>
              <a:t>• Highlights the importance of </a:t>
            </a:r>
            <a:r>
              <a:rPr lang="en-US" b="1"/>
              <a:t>transaction-related and profitability-related predictors</a:t>
            </a:r>
            <a:r>
              <a:rPr lang="en-US"/>
              <a:t> in stock return prediction.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Relevance to our Project:</a:t>
            </a:r>
            <a:endParaRPr lang="en-US"/>
          </a:p>
          <a:p>
            <a:r>
              <a:rPr lang="en-US"/>
              <a:t>• Demonstrates how </a:t>
            </a:r>
            <a:r>
              <a:rPr lang="en-US" b="1"/>
              <a:t>GANs can be used for financial forecasting</a:t>
            </a:r>
            <a:r>
              <a:rPr lang="en-US"/>
              <a:t>, relevant to gold price prediction.</a:t>
            </a:r>
          </a:p>
          <a:p>
            <a:r>
              <a:rPr lang="en-US"/>
              <a:t>• Uses </a:t>
            </a:r>
            <a:r>
              <a:rPr lang="en-US" b="1"/>
              <a:t>LSTM and attention mechanisms</a:t>
            </a:r>
            <a:r>
              <a:rPr lang="en-US"/>
              <a:t>, which could be beneficial for modeling time series in gold price prediction.</a:t>
            </a:r>
          </a:p>
          <a:p>
            <a:r>
              <a:rPr lang="en-US"/>
              <a:t>• Addresses </a:t>
            </a:r>
            <a:r>
              <a:rPr lang="en-US" b="1"/>
              <a:t>macroeconomic factors</a:t>
            </a:r>
            <a:r>
              <a:rPr lang="en-US"/>
              <a:t>, which could also impact gold prices.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3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F87A-B0A1-A148-8A93-35F50029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b="1"/>
              <a:t>Modeling Financial Time-Series with Generative Adversarial Networks (Takahashi et al., 2019)</a:t>
            </a:r>
            <a:br>
              <a:rPr lang="en-US" sz="2400"/>
            </a:b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9E02C-3C90-0D42-8B27-EA9DAC194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/>
              <a:t>Key Ideas:</a:t>
            </a:r>
            <a:endParaRPr lang="en-US"/>
          </a:p>
          <a:p>
            <a:r>
              <a:rPr lang="en-US"/>
              <a:t>• Introduces a </a:t>
            </a:r>
            <a:r>
              <a:rPr lang="en-US" b="1"/>
              <a:t>GAN-based approach</a:t>
            </a:r>
            <a:r>
              <a:rPr lang="en-US"/>
              <a:t> for modeling financial time-series data.</a:t>
            </a:r>
          </a:p>
          <a:p>
            <a:r>
              <a:rPr lang="en-US"/>
              <a:t>• Demonstrates how GANs can reproduce </a:t>
            </a:r>
            <a:r>
              <a:rPr lang="en-US" b="1"/>
              <a:t>stylized facts</a:t>
            </a:r>
            <a:r>
              <a:rPr lang="en-US"/>
              <a:t> of financial time series, such as:</a:t>
            </a:r>
          </a:p>
          <a:p>
            <a:r>
              <a:rPr lang="en-US"/>
              <a:t>• </a:t>
            </a:r>
            <a:r>
              <a:rPr lang="en-US" b="1"/>
              <a:t>Heavy-tailed distribution of price returns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Volatility clustering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Leverage effects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Coarse-fine volatility correlation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Gain/loss asymmetry</a:t>
            </a:r>
            <a:endParaRPr lang="en-US"/>
          </a:p>
          <a:p>
            <a:r>
              <a:rPr lang="en-US"/>
              <a:t>• Suggests that </a:t>
            </a:r>
            <a:r>
              <a:rPr lang="en-US" b="1"/>
              <a:t>GANs can generate realistic synthetic financial data</a:t>
            </a:r>
            <a:r>
              <a:rPr lang="en-US"/>
              <a:t>, which can be used for forecasting or market simulation.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Relevance to Our Project:</a:t>
            </a:r>
            <a:endParaRPr lang="en-US"/>
          </a:p>
          <a:p>
            <a:r>
              <a:rPr lang="en-US"/>
              <a:t>• Emphasizes the </a:t>
            </a:r>
            <a:r>
              <a:rPr lang="en-US" b="1"/>
              <a:t>importance of capturing stylized facts</a:t>
            </a:r>
            <a:r>
              <a:rPr lang="en-US"/>
              <a:t> in financial time series, which could be useful for gold price forecasting.</a:t>
            </a:r>
          </a:p>
          <a:p>
            <a:r>
              <a:rPr lang="en-US"/>
              <a:t>• Shows how </a:t>
            </a:r>
            <a:r>
              <a:rPr lang="en-US" b="1"/>
              <a:t>GANs can learn complex market behaviors</a:t>
            </a:r>
            <a:r>
              <a:rPr lang="en-US"/>
              <a:t>, making them a strong candidate for gold price modeling.</a:t>
            </a:r>
          </a:p>
          <a:p>
            <a:r>
              <a:rPr lang="en-US"/>
              <a:t>• Highlights </a:t>
            </a:r>
            <a:r>
              <a:rPr lang="en-US" b="1"/>
              <a:t>volatility clustering and heavy-tailed distributions</a:t>
            </a:r>
            <a:r>
              <a:rPr lang="en-US"/>
              <a:t>, both of which are characteristics of gold price movements.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3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9D18-C543-F44C-9EF1-ABA07BDB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b="1"/>
              <a:t>VGC-GAN: A Multi-Graph Convolution Adversarial Network for Stock Price Prediction (Ma et al., 2024)</a:t>
            </a:r>
            <a:br>
              <a:rPr lang="en-US" sz="2400"/>
            </a:b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9755F-4BC9-AF4E-80EE-E780BDA2B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/>
              <a:t>Key Ideas:</a:t>
            </a:r>
            <a:endParaRPr lang="en-US"/>
          </a:p>
          <a:p>
            <a:r>
              <a:rPr lang="en-US"/>
              <a:t>• Proposes </a:t>
            </a:r>
            <a:r>
              <a:rPr lang="en-US" b="1"/>
              <a:t>VGC-GAN</a:t>
            </a:r>
            <a:r>
              <a:rPr lang="en-US"/>
              <a:t>, a </a:t>
            </a:r>
            <a:r>
              <a:rPr lang="en-US" b="1"/>
              <a:t>graph-based GAN framework</a:t>
            </a:r>
            <a:r>
              <a:rPr lang="en-US"/>
              <a:t> for stock price prediction.</a:t>
            </a:r>
          </a:p>
          <a:p>
            <a:r>
              <a:rPr lang="en-US"/>
              <a:t>• Uses </a:t>
            </a:r>
            <a:r>
              <a:rPr lang="en-US" b="1"/>
              <a:t>multi-graph convolutional networks (Multi-GCNs)</a:t>
            </a:r>
            <a:r>
              <a:rPr lang="en-US"/>
              <a:t> to model relationships between stocks.</a:t>
            </a:r>
          </a:p>
          <a:p>
            <a:r>
              <a:rPr lang="en-US"/>
              <a:t>• Combines </a:t>
            </a:r>
            <a:r>
              <a:rPr lang="en-US" b="1"/>
              <a:t>Gated Recurrent Units (GRUs) and CNNs</a:t>
            </a:r>
            <a:r>
              <a:rPr lang="en-US"/>
              <a:t> for time-series forecasting.</a:t>
            </a:r>
          </a:p>
          <a:p>
            <a:r>
              <a:rPr lang="en-US"/>
              <a:t>• Incorporates </a:t>
            </a:r>
            <a:r>
              <a:rPr lang="en-US" b="1"/>
              <a:t>Variational Mode Decomposition (VMD)</a:t>
            </a:r>
            <a:r>
              <a:rPr lang="en-US"/>
              <a:t> to filter noise and improve predictive accuracy.</a:t>
            </a:r>
          </a:p>
          <a:p>
            <a:r>
              <a:rPr lang="en-US"/>
              <a:t>• Implements </a:t>
            </a:r>
            <a:r>
              <a:rPr lang="en-US" b="1"/>
              <a:t>adversarial training with a Wasserstein GAN (WGAN)</a:t>
            </a:r>
            <a:r>
              <a:rPr lang="en-US"/>
              <a:t> for better generalization.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Relevance to our Project:</a:t>
            </a:r>
            <a:endParaRPr lang="en-US"/>
          </a:p>
          <a:p>
            <a:r>
              <a:rPr lang="en-US"/>
              <a:t>• Introduces a </a:t>
            </a:r>
            <a:r>
              <a:rPr lang="en-US" b="1"/>
              <a:t>graph-based approach</a:t>
            </a:r>
            <a:r>
              <a:rPr lang="en-US"/>
              <a:t>, which might be useful if you consider modeling </a:t>
            </a:r>
            <a:r>
              <a:rPr lang="en-US" b="1"/>
              <a:t>gold price dependencies on multiple economic factors</a:t>
            </a:r>
            <a:r>
              <a:rPr lang="en-US"/>
              <a:t>.</a:t>
            </a:r>
          </a:p>
          <a:p>
            <a:r>
              <a:rPr lang="en-US"/>
              <a:t>• Uses </a:t>
            </a:r>
            <a:r>
              <a:rPr lang="en-US" b="1"/>
              <a:t>Wasserstein GAN (WGAN)</a:t>
            </a:r>
            <a:r>
              <a:rPr lang="en-US"/>
              <a:t>, which is known to be more stable than standard GANs—potentially useful for financial forecasting.</a:t>
            </a:r>
          </a:p>
          <a:p>
            <a:r>
              <a:rPr lang="en-US"/>
              <a:t>• </a:t>
            </a:r>
            <a:r>
              <a:rPr lang="en-US" b="1"/>
              <a:t>GRU-based modeling</a:t>
            </a:r>
            <a:r>
              <a:rPr lang="en-US"/>
              <a:t> might be an alternative to LSTM for capturing time dependencies in gold prices.</a:t>
            </a:r>
          </a:p>
          <a:p>
            <a:pPr marL="344488" indent="-338328" algn="r" defTabSz="914400" rtl="1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4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6B200-363D-C74B-A636-E2E242F2D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4152" y="245097"/>
            <a:ext cx="9078013" cy="5806911"/>
          </a:xfrm>
        </p:spPr>
        <p:txBody>
          <a:bodyPr>
            <a:normAutofit/>
          </a:bodyPr>
          <a:lstStyle/>
          <a:p>
            <a:r>
              <a:rPr lang="en-US" sz="1600">
                <a:effectLst/>
              </a:rPr>
              <a:t>Generative Adversarial Networks for Time Series Simulation</a:t>
            </a:r>
          </a:p>
          <a:p>
            <a:r>
              <a:rPr lang="en-US" sz="1600">
                <a:effectLst/>
              </a:rPr>
              <a:t>Generative Adversarial Networksin TimeSeries: A Systematic Literature Review</a:t>
            </a:r>
          </a:p>
          <a:p>
            <a:r>
              <a:rPr lang="en-US" sz="1600">
                <a:effectLst/>
              </a:rPr>
              <a:t>Generating Stock Market Data and Making Predictions Using GAN and Neural Networks</a:t>
            </a:r>
          </a:p>
          <a:p>
            <a:r>
              <a:rPr lang="en-US" sz="1600">
                <a:effectLst/>
              </a:rPr>
              <a:t>Stock Price Prediction Using TCN-GAN Hybrid Model</a:t>
            </a:r>
          </a:p>
          <a:p>
            <a:r>
              <a:rPr lang="en-US" sz="1600">
                <a:effectLst/>
              </a:rPr>
              <a:t>Stock Market Prediction Based on Generative Adversarial Network</a:t>
            </a:r>
          </a:p>
          <a:p>
            <a:r>
              <a:rPr lang="en-US" sz="1600">
                <a:effectLst/>
              </a:rPr>
              <a:t>Cross-modal scenario generation for stock price forecasting using Wasserstein GAN and GCN</a:t>
            </a:r>
          </a:p>
          <a:p>
            <a:r>
              <a:rPr lang="en-US" sz="1600">
                <a:effectLst/>
              </a:rPr>
              <a:t>Stock market forecasting using DRAGAN and feature matching</a:t>
            </a:r>
          </a:p>
          <a:p>
            <a:r>
              <a:rPr lang="en-US" sz="1600">
                <a:effectLst/>
              </a:rPr>
              <a:t>Fin-GAN: Forecasting and Classifying Financial Time Series via Generative Adversarial Networks</a:t>
            </a:r>
          </a:p>
          <a:p>
            <a:pPr marL="6160" indent="0">
              <a:buNone/>
            </a:pPr>
            <a:endParaRPr lang="en-US" sz="1600">
              <a:effectLst/>
            </a:endParaRPr>
          </a:p>
          <a:p>
            <a:endParaRPr lang="en-US" sz="1600">
              <a:effectLst/>
            </a:endParaRPr>
          </a:p>
          <a:p>
            <a:pPr marL="344488" indent="-338328" defTabSz="914400" rtl="1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7497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2466F-00E7-A141-928C-7E467C1EB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945804"/>
            <a:ext cx="7796540" cy="5912195"/>
          </a:xfrm>
        </p:spPr>
        <p:txBody>
          <a:bodyPr>
            <a:normAutofit/>
          </a:bodyPr>
          <a:lstStyle/>
          <a:p>
            <a:r>
              <a:rPr lang="en-US" sz="1600">
                <a:effectLst/>
              </a:rPr>
              <a:t>A Deep Dive into Stock Forecasting: Insights from LSTM, GRU, GAN, and WGAN-GP</a:t>
            </a:r>
          </a:p>
          <a:p>
            <a:r>
              <a:rPr lang="en-US" sz="1600">
                <a:effectLst/>
              </a:rPr>
              <a:t>WASSERSTEIN GAN: DEEP GENERATION APPLIED ON FINANCIAL TIME SERIES</a:t>
            </a:r>
          </a:p>
          <a:p>
            <a:r>
              <a:rPr lang="en-US" sz="1600">
                <a:effectLst/>
              </a:rPr>
              <a:t>An Efficient GAN‑Based Multi‑classification Approach for Financial Time Series Volatility Trend Prediction</a:t>
            </a:r>
          </a:p>
          <a:p>
            <a:r>
              <a:rPr lang="en-US" sz="1600">
                <a:effectLst/>
              </a:rPr>
              <a:t>Predicting Stocks with LSTM-based DRNN and GAN</a:t>
            </a:r>
          </a:p>
          <a:p>
            <a:r>
              <a:rPr lang="en-US" sz="1600">
                <a:effectLst/>
              </a:rPr>
              <a:t>The Signature-Wasserstein GAN for Time Series Generation and Beyond</a:t>
            </a:r>
          </a:p>
          <a:p>
            <a:r>
              <a:rPr lang="en-US" sz="1600">
                <a:effectLst/>
              </a:rPr>
              <a:t>Stock Market Prediction on High-Frequency Data Using Generative Adversarial Nets</a:t>
            </a:r>
          </a:p>
          <a:p>
            <a:r>
              <a:rPr lang="en-US" sz="1600">
                <a:effectLst/>
              </a:rPr>
              <a:t>STOCK MARKET PREDICTION USING GENERATIVE ADVERSARIAL NETWORK (GAN) – STUDY CASE GERMANY STOCK MARKET</a:t>
            </a:r>
          </a:p>
          <a:p>
            <a:r>
              <a:rPr lang="en-US" sz="1600">
                <a:effectLst/>
              </a:rPr>
              <a:t>Stock Price Forecasting by a Deep Convolutional Generative Adversarial Network</a:t>
            </a:r>
          </a:p>
          <a:p>
            <a:endParaRPr lang="en-US" sz="1600">
              <a:effectLst/>
            </a:endParaRPr>
          </a:p>
          <a:p>
            <a:endParaRPr lang="en-US" sz="1600">
              <a:effectLst/>
            </a:endParaRPr>
          </a:p>
          <a:p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117099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A728-CE94-F44A-B7D7-B5362D8B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/>
              <a:t>Proposed Design (Methodology)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B29F9-23A4-9C49-BE34-A36C55474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1. Model Architecture</a:t>
            </a:r>
            <a:endParaRPr lang="en-US"/>
          </a:p>
          <a:p>
            <a:r>
              <a:rPr lang="en-US"/>
              <a:t>• Use a </a:t>
            </a:r>
            <a:r>
              <a:rPr lang="en-US" b="1"/>
              <a:t>Generative Adversarial Network (GAN)</a:t>
            </a:r>
            <a:r>
              <a:rPr lang="en-US"/>
              <a:t> for </a:t>
            </a:r>
            <a:r>
              <a:rPr lang="en-US" b="1"/>
              <a:t>probabilistic forecasting</a:t>
            </a:r>
            <a:r>
              <a:rPr lang="en-US"/>
              <a:t> rather than point predictions.</a:t>
            </a:r>
          </a:p>
          <a:p>
            <a:r>
              <a:rPr lang="en-US"/>
              <a:t>• Implement </a:t>
            </a:r>
            <a:r>
              <a:rPr lang="en-US" b="1"/>
              <a:t>LSTM-based GAN</a:t>
            </a:r>
            <a:r>
              <a:rPr lang="en-US"/>
              <a:t> to capture time dependencies in gold price data.</a:t>
            </a:r>
          </a:p>
          <a:p>
            <a:r>
              <a:rPr lang="en-US"/>
              <a:t>• Consider using </a:t>
            </a:r>
            <a:r>
              <a:rPr lang="en-US" b="1"/>
              <a:t>Wasserstein GAN (WGAN)</a:t>
            </a:r>
            <a:r>
              <a:rPr lang="en-US"/>
              <a:t> to improve stability and avoid mode collapse.</a:t>
            </a:r>
          </a:p>
          <a:p>
            <a:r>
              <a:rPr lang="en-US"/>
              <a:t>• Integrate </a:t>
            </a:r>
            <a:r>
              <a:rPr lang="en-US" b="1"/>
              <a:t>attention mechanisms</a:t>
            </a:r>
            <a:r>
              <a:rPr lang="en-US"/>
              <a:t> to focus on significant price patterns.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8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FFDA0-4FC1-1545-89E3-2DB938AE2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044" y="869244"/>
            <a:ext cx="8380095" cy="5180700"/>
          </a:xfrm>
        </p:spPr>
        <p:txBody>
          <a:bodyPr>
            <a:normAutofit fontScale="92500" lnSpcReduction="10000"/>
          </a:bodyPr>
          <a:lstStyle/>
          <a:p>
            <a:r>
              <a:rPr lang="en-US" b="1"/>
              <a:t>2. Data Collection &amp; Preprocessing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Data Sources:</a:t>
            </a:r>
            <a:r>
              <a:rPr lang="en-US"/>
              <a:t> Historical gold price data from </a:t>
            </a:r>
            <a:r>
              <a:rPr lang="en-US" b="1"/>
              <a:t>Yahoo Finance, Bloomberg, or central banks</a:t>
            </a:r>
            <a:r>
              <a:rPr lang="en-US"/>
              <a:t>.</a:t>
            </a:r>
          </a:p>
          <a:p>
            <a:r>
              <a:rPr lang="en-US"/>
              <a:t>• </a:t>
            </a:r>
            <a:r>
              <a:rPr lang="en-US" b="1"/>
              <a:t>Features to Include: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Macroeconomic indicators</a:t>
            </a:r>
            <a:r>
              <a:rPr lang="en-US"/>
              <a:t> (inflation, interest rates, USD index).</a:t>
            </a:r>
          </a:p>
          <a:p>
            <a:r>
              <a:rPr lang="en-US"/>
              <a:t>• </a:t>
            </a:r>
            <a:r>
              <a:rPr lang="en-US" b="1"/>
              <a:t>Market trends</a:t>
            </a:r>
            <a:r>
              <a:rPr lang="en-US"/>
              <a:t> (commodity index, stock market trends).</a:t>
            </a:r>
          </a:p>
          <a:p>
            <a:r>
              <a:rPr lang="en-US"/>
              <a:t>• </a:t>
            </a:r>
            <a:r>
              <a:rPr lang="en-US" b="1"/>
              <a:t>Technical indicators</a:t>
            </a:r>
            <a:r>
              <a:rPr lang="en-US"/>
              <a:t> (moving averages, RSI, Bollinger bands).</a:t>
            </a:r>
          </a:p>
          <a:p>
            <a:r>
              <a:rPr lang="en-US"/>
              <a:t>• </a:t>
            </a:r>
            <a:r>
              <a:rPr lang="en-US" b="1"/>
              <a:t>Preprocessing Steps:</a:t>
            </a:r>
            <a:endParaRPr lang="en-US"/>
          </a:p>
          <a:p>
            <a:r>
              <a:rPr lang="en-US"/>
              <a:t>• Normalization and scaling.</a:t>
            </a:r>
          </a:p>
          <a:p>
            <a:r>
              <a:rPr lang="en-US"/>
              <a:t>• Sliding window approach for time-series forecasting.</a:t>
            </a:r>
          </a:p>
          <a:p>
            <a:r>
              <a:rPr lang="en-US"/>
              <a:t>• Handling missing values and outliers.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25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A28C-1FCC-C44F-91F8-32DC92381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533" y="846667"/>
            <a:ext cx="8165606" cy="5203277"/>
          </a:xfrm>
        </p:spPr>
        <p:txBody>
          <a:bodyPr>
            <a:normAutofit lnSpcReduction="10000"/>
          </a:bodyPr>
          <a:lstStyle/>
          <a:p>
            <a:r>
              <a:rPr lang="en-US" b="1"/>
              <a:t>3. Training Strategy &amp; Loss Function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Generator:</a:t>
            </a:r>
            <a:r>
              <a:rPr lang="en-US"/>
              <a:t> Predicts future gold prices based on historical patterns.</a:t>
            </a:r>
          </a:p>
          <a:p>
            <a:r>
              <a:rPr lang="en-US"/>
              <a:t>• </a:t>
            </a:r>
            <a:r>
              <a:rPr lang="en-US" b="1"/>
              <a:t>Discriminator:</a:t>
            </a:r>
            <a:r>
              <a:rPr lang="en-US"/>
              <a:t> Differentiates between real and generated price trends.</a:t>
            </a:r>
          </a:p>
          <a:p>
            <a:r>
              <a:rPr lang="en-US"/>
              <a:t>• </a:t>
            </a:r>
            <a:r>
              <a:rPr lang="en-US" b="1"/>
              <a:t>Loss Function: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MSE (Mean Squared Error)</a:t>
            </a:r>
            <a:r>
              <a:rPr lang="en-US"/>
              <a:t> for accuracy.</a:t>
            </a:r>
          </a:p>
          <a:p>
            <a:r>
              <a:rPr lang="en-US"/>
              <a:t>Economic driven loss function</a:t>
            </a:r>
          </a:p>
          <a:p>
            <a:r>
              <a:rPr lang="en-US"/>
              <a:t>PnL</a:t>
            </a:r>
          </a:p>
          <a:p>
            <a:r>
              <a:rPr lang="en-US"/>
              <a:t>• </a:t>
            </a:r>
            <a:r>
              <a:rPr lang="en-US" b="1"/>
              <a:t>Sharpe Ratio-based loss</a:t>
            </a:r>
            <a:r>
              <a:rPr lang="en-US"/>
              <a:t> for financial relevance.</a:t>
            </a:r>
          </a:p>
          <a:p>
            <a:r>
              <a:rPr lang="en-US"/>
              <a:t>• </a:t>
            </a:r>
            <a:r>
              <a:rPr lang="en-US" b="1"/>
              <a:t>Standard deviation term</a:t>
            </a:r>
            <a:r>
              <a:rPr lang="en-US"/>
              <a:t> to control risk.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96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0F1EB-1784-EF4B-BD1A-9219901A7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022" y="361244"/>
            <a:ext cx="8459117" cy="5688700"/>
          </a:xfrm>
        </p:spPr>
        <p:txBody>
          <a:bodyPr/>
          <a:lstStyle/>
          <a:p>
            <a:r>
              <a:rPr lang="en-US" b="1"/>
              <a:t>4. Evaluation &amp; Benchmarking</a:t>
            </a:r>
            <a:endParaRPr lang="en-US"/>
          </a:p>
          <a:p>
            <a:r>
              <a:rPr lang="en-US"/>
              <a:t>• Compare the GAN-based model with </a:t>
            </a:r>
            <a:r>
              <a:rPr lang="en-US" b="1"/>
              <a:t>ARIMA, LSTM, and traditional ML models</a:t>
            </a:r>
            <a:r>
              <a:rPr lang="en-US"/>
              <a:t>.</a:t>
            </a:r>
          </a:p>
          <a:p>
            <a:r>
              <a:rPr lang="en-US"/>
              <a:t>• Use metrics like </a:t>
            </a:r>
            <a:r>
              <a:rPr lang="en-US" b="1"/>
              <a:t>RMSE, MAE, Sharpe Ratio, and directional accuracy</a:t>
            </a:r>
            <a:r>
              <a:rPr lang="en-US"/>
              <a:t>.</a:t>
            </a:r>
          </a:p>
          <a:p>
            <a:r>
              <a:rPr lang="en-US"/>
              <a:t>• Backtest on historical data for real-world applicability.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25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F455-6D44-0C4B-809A-EE532DBC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266148"/>
            <a:ext cx="7958331" cy="1077229"/>
          </a:xfrm>
        </p:spPr>
        <p:txBody>
          <a:bodyPr/>
          <a:lstStyle/>
          <a:p>
            <a:pPr algn="ctr"/>
            <a:r>
              <a:rPr lang="en-US" b="1"/>
              <a:t>Future Works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6E603-857D-BC48-9452-5608B61AB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4" y="632179"/>
            <a:ext cx="10058400" cy="6062132"/>
          </a:xfrm>
        </p:spPr>
        <p:txBody>
          <a:bodyPr>
            <a:normAutofit fontScale="70000" lnSpcReduction="20000"/>
          </a:bodyPr>
          <a:lstStyle/>
          <a:p>
            <a:r>
              <a:rPr lang="en-US" b="1"/>
              <a:t>1. Enhancing Model Performance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Hybrid Models:</a:t>
            </a:r>
            <a:r>
              <a:rPr lang="en-US"/>
              <a:t> Combine </a:t>
            </a:r>
            <a:r>
              <a:rPr lang="en-US" b="1"/>
              <a:t>GANs with reinforcement learning</a:t>
            </a:r>
            <a:r>
              <a:rPr lang="en-US"/>
              <a:t> or transformers for better predictions.</a:t>
            </a:r>
          </a:p>
          <a:p>
            <a:r>
              <a:rPr lang="en-US"/>
              <a:t>• </a:t>
            </a:r>
            <a:r>
              <a:rPr lang="en-US" b="1"/>
              <a:t>Graph-Based Learning:</a:t>
            </a:r>
            <a:r>
              <a:rPr lang="en-US"/>
              <a:t> Incorporate </a:t>
            </a:r>
            <a:r>
              <a:rPr lang="en-US" b="1"/>
              <a:t>Graph Neural Networks (GNNs)</a:t>
            </a:r>
            <a:r>
              <a:rPr lang="en-US"/>
              <a:t> to model relationships between gold prices and economic factors.</a:t>
            </a:r>
          </a:p>
          <a:p>
            <a:r>
              <a:rPr lang="en-US"/>
              <a:t>• </a:t>
            </a:r>
            <a:r>
              <a:rPr lang="en-US" b="1"/>
              <a:t>Explainability:</a:t>
            </a:r>
            <a:r>
              <a:rPr lang="en-US"/>
              <a:t> Improve model interpretability by using </a:t>
            </a:r>
            <a:r>
              <a:rPr lang="en-US" b="1"/>
              <a:t>attention-based visualizations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2. Expanding the Scope of Prediction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Multi-Horizon Forecasting:</a:t>
            </a:r>
            <a:r>
              <a:rPr lang="en-US"/>
              <a:t> Extend predictions from </a:t>
            </a:r>
            <a:r>
              <a:rPr lang="en-US" b="1"/>
              <a:t>daily to weekly/monthly forecasts</a:t>
            </a:r>
            <a:r>
              <a:rPr lang="en-US"/>
              <a:t>.</a:t>
            </a:r>
          </a:p>
          <a:p>
            <a:r>
              <a:rPr lang="en-US"/>
              <a:t>• </a:t>
            </a:r>
            <a:r>
              <a:rPr lang="en-US" b="1"/>
              <a:t>Portfolio Optimization:</a:t>
            </a:r>
            <a:r>
              <a:rPr lang="en-US"/>
              <a:t> Use predicted prices to design an </a:t>
            </a:r>
            <a:r>
              <a:rPr lang="en-US" b="1"/>
              <a:t>investment strategy</a:t>
            </a:r>
            <a:r>
              <a:rPr lang="en-US"/>
              <a:t>.</a:t>
            </a:r>
          </a:p>
          <a:p>
            <a:r>
              <a:rPr lang="en-US"/>
              <a:t>• </a:t>
            </a:r>
            <a:r>
              <a:rPr lang="en-US" b="1"/>
              <a:t>Multi-Asset Modeling:</a:t>
            </a:r>
            <a:r>
              <a:rPr lang="en-US"/>
              <a:t> Extend the model to other commodities like </a:t>
            </a:r>
            <a:r>
              <a:rPr lang="en-US" b="1"/>
              <a:t>silver, oil, and cryptocurrency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3. Real-World Application &amp; Deployment</a:t>
            </a:r>
            <a:endParaRPr lang="en-US"/>
          </a:p>
          <a:p>
            <a:r>
              <a:rPr lang="en-US"/>
              <a:t>• </a:t>
            </a:r>
            <a:r>
              <a:rPr lang="en-US" b="1"/>
              <a:t>Live Market Integration:</a:t>
            </a:r>
            <a:r>
              <a:rPr lang="en-US"/>
              <a:t> Develop an </a:t>
            </a:r>
            <a:r>
              <a:rPr lang="en-US" b="1"/>
              <a:t>API for real-time gold price forecasting</a:t>
            </a:r>
            <a:r>
              <a:rPr lang="en-US"/>
              <a:t>.</a:t>
            </a:r>
          </a:p>
          <a:p>
            <a:r>
              <a:rPr lang="en-US"/>
              <a:t>• </a:t>
            </a:r>
            <a:r>
              <a:rPr lang="en-US" b="1"/>
              <a:t>Trading Strategy Implementation:</a:t>
            </a:r>
            <a:r>
              <a:rPr lang="en-US"/>
              <a:t> Apply model predictions to </a:t>
            </a:r>
            <a:r>
              <a:rPr lang="en-US" b="1"/>
              <a:t>automated trading algorithms</a:t>
            </a:r>
            <a:r>
              <a:rPr lang="en-US"/>
              <a:t>.</a:t>
            </a:r>
          </a:p>
          <a:p>
            <a:r>
              <a:rPr lang="en-US"/>
              <a:t>• </a:t>
            </a:r>
            <a:r>
              <a:rPr lang="en-US" b="1"/>
              <a:t>Collaboration with Financial Analysts:</a:t>
            </a:r>
            <a:r>
              <a:rPr lang="en-US"/>
              <a:t> Validate the model with expert insights.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403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{A713F1F2-F06B-FA4D-BBAF-88260E28E1FA}tf16401378</Template>
  <TotalTime>41</TotalTime>
  <Words>1287</Words>
  <Application>Microsoft Macintosh PowerPoint</Application>
  <PresentationFormat>Widescreen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MS Shell Dlg 2</vt:lpstr>
      <vt:lpstr>Wingdings</vt:lpstr>
      <vt:lpstr>Wingdings 3</vt:lpstr>
      <vt:lpstr>Madison</vt:lpstr>
      <vt:lpstr>Gold Price Prediction using GAN</vt:lpstr>
      <vt:lpstr>Introduction and Background</vt:lpstr>
      <vt:lpstr>Objective</vt:lpstr>
      <vt:lpstr>Motivation and Importance</vt:lpstr>
      <vt:lpstr>Why GANs for Time Series Prediction?</vt:lpstr>
      <vt:lpstr>What are GANs?</vt:lpstr>
      <vt:lpstr>Literature Review</vt:lpstr>
      <vt:lpstr>Enhancing Stock Return Prediction in the Chinese Market: A GAN-Based Approach (Wu et al., 2025 </vt:lpstr>
      <vt:lpstr>Modeling Financial Time-Series with Generative Adversarial Networks (Takahashi et al., 2019) </vt:lpstr>
      <vt:lpstr>VGC-GAN: A Multi-Graph Convolution Adversarial Network for Stock Price Prediction (Ma et al., 2024) </vt:lpstr>
      <vt:lpstr>PowerPoint Presentation</vt:lpstr>
      <vt:lpstr>PowerPoint Presentation</vt:lpstr>
      <vt:lpstr>Proposed Design (Methodology) </vt:lpstr>
      <vt:lpstr>PowerPoint Presentation</vt:lpstr>
      <vt:lpstr>PowerPoint Presentation</vt:lpstr>
      <vt:lpstr>PowerPoint Presentation</vt:lpstr>
      <vt:lpstr>Future Works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Price Prediction using GAN</dc:title>
  <dc:creator>Hooyar Shahidi</dc:creator>
  <cp:lastModifiedBy>Hooyar Shahidi</cp:lastModifiedBy>
  <cp:revision>2</cp:revision>
  <dcterms:created xsi:type="dcterms:W3CDTF">2025-03-05T09:30:46Z</dcterms:created>
  <dcterms:modified xsi:type="dcterms:W3CDTF">2025-03-05T10:12:15Z</dcterms:modified>
</cp:coreProperties>
</file>